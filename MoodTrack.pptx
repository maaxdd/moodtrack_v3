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330" r:id="rId7"/>
    <p:sldId id="343" r:id="rId8"/>
    <p:sldId id="305" r:id="rId9"/>
    <p:sldId id="341" r:id="rId10"/>
    <p:sldId id="342" r:id="rId11"/>
    <p:sldId id="336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3725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DA8BA17-D35D-4948-91E2-71DDD760FEF1}" type="datetime1">
              <a:rPr lang="ru-RU" smtClean="0"/>
              <a:t>24.09.2025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55657-0A12-495F-9FFA-D8F7554E7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D75EC1-FB33-4997-8B71-3CF9F1D44536}" type="datetime1">
              <a:rPr lang="ru-RU" noProof="0" smtClean="0"/>
              <a:t>24.09.2025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2780FBB-F712-42E7-8C2F-226D98798B3F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536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49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508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726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932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758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128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2780FBB-F712-42E7-8C2F-226D98798B3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10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pic>
        <p:nvPicPr>
          <p:cNvPr id="17" name="Рисунок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Образец заголовка</a:t>
            </a:r>
          </a:p>
        </p:txBody>
      </p:sp>
      <p:sp>
        <p:nvSpPr>
          <p:cNvPr id="20" name="Текст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7050" y="3600450"/>
            <a:ext cx="9144000" cy="2451100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Прямоугольник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2" name="Рамка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rtlCol="0" anchor="t">
            <a:normAutofit/>
          </a:bodyPr>
          <a:lstStyle/>
          <a:p>
            <a:pPr rtl="0"/>
            <a:r>
              <a:rPr lang="ru-RU" sz="4400" noProof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Образец заголовка</a:t>
            </a:r>
            <a:endParaRPr lang="ru-RU" sz="4400" noProof="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 rtl="0"/>
            <a:r>
              <a:rPr lang="ru-RU" sz="1800" noProof="0">
                <a:solidFill>
                  <a:schemeClr val="tx2">
                    <a:alpha val="60000"/>
                  </a:schemeClr>
                </a:solidFill>
              </a:rPr>
              <a:t>Образец текста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5" name="Рисунок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" name="Рисунок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" name="Рисунок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rtlCol="0" anchor="b">
            <a:normAutofit/>
          </a:bodyPr>
          <a:lstStyle/>
          <a:p>
            <a:pPr rtl="0"/>
            <a:r>
              <a:rPr lang="ru-RU" sz="4400" noProof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Образец заголовка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 rtl="0"/>
            <a:r>
              <a:rPr lang="ru-RU" sz="1800" noProof="0">
                <a:solidFill>
                  <a:schemeClr val="tx2">
                    <a:alpha val="60000"/>
                  </a:schemeClr>
                </a:solidFill>
              </a:rPr>
              <a:t>Образец текста</a:t>
            </a:r>
          </a:p>
        </p:txBody>
      </p:sp>
      <p:sp>
        <p:nvSpPr>
          <p:cNvPr id="29" name="Дата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pPr rtl="0"/>
            <a:r>
              <a:rPr lang="ru-RU" noProof="0"/>
              <a:t>01.03.20ГГ</a:t>
            </a: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5" name="Рисунок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6" name="Рисунок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0" name="Нижний колонтитул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31" name="Номер слайда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Прямоугольник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 useBgFill="1"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9" name="Рамка 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cs typeface="Times New Roman" panose="02020603050405020304" pitchFamily="18" charset="0"/>
              </a:defRPr>
            </a:lvl1pPr>
          </a:lstStyle>
          <a:p>
            <a:pPr algn="l" rtl="0"/>
            <a:r>
              <a:rPr lang="ru-RU" noProof="0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Образец заголовка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0" name="Рисунок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600450"/>
            <a:ext cx="5322888" cy="2451100"/>
          </a:xfrm>
        </p:spPr>
        <p:txBody>
          <a:bodyPr rtlCol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аблица диаграммы (временная шкал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14" name="Рамка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rtlCol="0"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 rtlCol="0"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" name="Рисунок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" name="Рисунок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8" name="Рисунок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Times New Roman" panose="02020603050405020304" pitchFamily="18" charset="0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3" name="Текст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4" name="Текст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Times New Roman" panose="02020603050405020304" pitchFamily="18" charset="0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6" name="Текст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Times New Roman" panose="02020603050405020304" pitchFamily="18" charset="0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7" name="Текст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8" name="Текст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Times New Roman" panose="02020603050405020304" pitchFamily="18" charset="0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9" name="Текст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 rtlCol="0"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 (слайд для сравнен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60320"/>
            <a:ext cx="5183188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2011680"/>
            <a:ext cx="5157787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027" y="2011680"/>
            <a:ext cx="5183187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04360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04360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68934" y="2011680"/>
            <a:ext cx="3383280" cy="530352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968934" y="2560320"/>
            <a:ext cx="3383280" cy="3446463"/>
          </a:xfrm>
        </p:spPr>
        <p:txBody>
          <a:bodyPr rtlCol="0"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rtlCol="0" anchor="b">
            <a:normAutofit/>
          </a:bodyPr>
          <a:lstStyle/>
          <a:p>
            <a:pPr rtl="0"/>
            <a:r>
              <a:rPr lang="ru-RU" sz="4400" noProof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Образец заголовка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 rtl="0"/>
            <a:r>
              <a:rPr lang="ru-RU" sz="2000" noProof="0">
                <a:solidFill>
                  <a:schemeClr val="tx2">
                    <a:alpha val="60000"/>
                  </a:schemeClr>
                </a:solidFill>
              </a:rPr>
              <a:t>Образец текста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ru-RU" noProof="0">
                <a:solidFill>
                  <a:schemeClr val="tx2">
                    <a:alpha val="60000"/>
                  </a:schemeClr>
                </a:solidFill>
                <a:latin typeface="Calibri" panose="020F0502020204030204" pitchFamily="34" charset="0"/>
              </a:rPr>
              <a:t>01.03.20ГГ</a:t>
            </a:r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ru-RU" noProof="0">
                <a:solidFill>
                  <a:schemeClr val="tx2">
                    <a:alpha val="60000"/>
                  </a:schemeClr>
                </a:solidFill>
                <a:latin typeface="Calibri" panose="020F0502020204030204" pitchFamily="34" charset="0"/>
              </a:rPr>
              <a:t>Образец текста нижнего колонтитула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28844951-7827-47D4-8276-7DDE1FA7D85A}" type="slidenum">
              <a:rPr lang="ru-RU" noProof="0" smtClean="0">
                <a:solidFill>
                  <a:schemeClr val="tx2">
                    <a:alpha val="60000"/>
                  </a:schemeClr>
                </a:solidFill>
                <a:latin typeface="Calibri" panose="020F0502020204030204" pitchFamily="34" charset="0"/>
              </a:rPr>
              <a:pPr/>
              <a:t>‹#›</a:t>
            </a:fld>
            <a:endParaRPr lang="ru-RU" noProof="0">
              <a:solidFill>
                <a:schemeClr val="tx2">
                  <a:alpha val="6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5" name="Рисунок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rtlCol="0" anchor="t">
            <a:normAutofit/>
          </a:bodyPr>
          <a:lstStyle/>
          <a:p>
            <a:pPr rtl="0"/>
            <a:r>
              <a:rPr lang="ru-RU" sz="4400" noProof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Образец заголовка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rtlCol="0"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 rtl="0"/>
            <a:r>
              <a:rPr lang="ru-RU" sz="1800" noProof="0">
                <a:solidFill>
                  <a:schemeClr val="tx2">
                    <a:alpha val="60000"/>
                  </a:schemeClr>
                </a:solidFill>
              </a:rPr>
              <a:t>Образец текста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8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57399"/>
            <a:ext cx="5181600" cy="4119563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57399"/>
            <a:ext cx="5181600" cy="4119563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85801"/>
            <a:ext cx="6172200" cy="51752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9800"/>
            <a:ext cx="3932237" cy="36591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685801"/>
            <a:ext cx="6172200" cy="517525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209800"/>
            <a:ext cx="3932237" cy="36591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01.03.20ГГ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8844951-7827-47D4-8276-7DDE1FA7D85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амка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noProof="0"/>
              <a:t>01.03.20ГГ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noProof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fld id="{28844951-7827-47D4-8276-7DDE1FA7D85A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Times New Roman" panose="02020603050405020304" pitchFamily="18" charset="0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Calibri" panose="020F0502020204030204" pitchFamily="34" charset="0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Calibri" panose="020F0502020204030204" pitchFamily="34" charset="0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Calibri" panose="020F0502020204030204" pitchFamily="34" charset="0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Calibri" panose="020F0502020204030204" pitchFamily="34" charset="0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rtlCol="0" anchor="b" anchorCtr="0"/>
          <a:lstStyle/>
          <a:p>
            <a:pPr rtl="0"/>
            <a:r>
              <a:rPr lang="en-US" dirty="0" err="1"/>
              <a:t>MoodTrack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600450"/>
            <a:ext cx="9144000" cy="2451100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ru-RU" dirty="0"/>
              <a:t>приложение для отслеживания и анализа настроения</a:t>
            </a:r>
          </a:p>
          <a:p>
            <a:pPr rtl="0"/>
            <a:endParaRPr lang="ru-RU" dirty="0"/>
          </a:p>
          <a:p>
            <a:pPr rtl="0"/>
            <a:endParaRPr lang="ru-RU" dirty="0"/>
          </a:p>
          <a:p>
            <a:pPr rtl="0"/>
            <a:endParaRPr lang="ru-RU" dirty="0"/>
          </a:p>
          <a:p>
            <a:pPr rtl="0"/>
            <a:r>
              <a:rPr lang="ru-RU" dirty="0"/>
              <a:t>Матюшенков Андрей 405ис</a:t>
            </a:r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89900"/>
            <a:ext cx="5992550" cy="2827422"/>
          </a:xfrm>
        </p:spPr>
        <p:txBody>
          <a:bodyPr rtlCol="0"/>
          <a:lstStyle/>
          <a:p>
            <a:pPr rtl="0"/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167" y="914399"/>
            <a:ext cx="6756632" cy="5029201"/>
          </a:xfrm>
        </p:spPr>
        <p:txBody>
          <a:bodyPr rtlCol="0">
            <a:norm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современный ритм жизни приводит к стрессам, тревожности и эмоциональному выгоранию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люди часто не отслеживают динамику собственного состояния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отсутствие понимания изменений в настроении мешает своевременно предпринимать шаги для улучшения психоэмоционального здоровья</a:t>
            </a:r>
          </a:p>
        </p:txBody>
      </p:sp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49352-2AB0-4ADD-96B9-AB0FAEC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rtlCol="0"/>
          <a:lstStyle/>
          <a:p>
            <a:pPr rtl="0"/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49AA98-AED4-4FAD-999C-98B64BB9D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создать мобильное приложение для отслеживания и анализа настроения, которое поможет пользователю лучше понимать своё эмоциональное состояние и получать рекомендации для улучшения самочувствия</a:t>
            </a:r>
          </a:p>
        </p:txBody>
      </p:sp>
    </p:spTree>
    <p:extLst>
      <p:ext uri="{BB962C8B-B14F-4D97-AF65-F5344CB8AC3E}">
        <p14:creationId xmlns:p14="http://schemas.microsoft.com/office/powerpoint/2010/main" val="159034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326" y="897621"/>
            <a:ext cx="5992550" cy="2827422"/>
          </a:xfrm>
        </p:spPr>
        <p:txBody>
          <a:bodyPr rtlCol="0"/>
          <a:lstStyle/>
          <a:p>
            <a:pPr algn="ctr" rtl="0"/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623" y="1979802"/>
            <a:ext cx="10091957" cy="4341304"/>
          </a:xfrm>
        </p:spPr>
        <p:txBody>
          <a:bodyPr rtlCol="0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2000" dirty="0"/>
              <a:t>реализовать возможность ежедневного ввода оценки настроения (от шкалы эмоций до числового рейтинга)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dirty="0"/>
              <a:t>добавить возможность писать заметки/комментарии к состоянию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dirty="0"/>
              <a:t>хранить историю и отображать её в графиках/статистике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dirty="0"/>
              <a:t>разработать аналитический модуль, который выявляет тенденции и формирует краткие выводы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000" dirty="0"/>
              <a:t>реализовать систему рекомендаций для улучшения эмоционального состояния (например: отдых, прогулка, медитация)</a:t>
            </a:r>
          </a:p>
        </p:txBody>
      </p:sp>
    </p:spTree>
    <p:extLst>
      <p:ext uri="{BB962C8B-B14F-4D97-AF65-F5344CB8AC3E}">
        <p14:creationId xmlns:p14="http://schemas.microsoft.com/office/powerpoint/2010/main" val="422851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8E50F-247A-4628-90BB-62A60E396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 rtlCol="0"/>
          <a:lstStyle/>
          <a:p>
            <a:pPr rtl="0"/>
            <a:r>
              <a:rPr lang="ru-RU" dirty="0"/>
              <a:t>Назначение приложения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2A8BE8-DC21-47DE-B6F3-7DC95B43C5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45092" y="1528369"/>
            <a:ext cx="5322888" cy="2451100"/>
          </a:xfrm>
        </p:spPr>
        <p:txBody>
          <a:bodyPr rtlCol="0">
            <a:normAutofit fontScale="85000" lnSpcReduction="20000"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личный дневник настроения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аналитика эмоционального состояния за выбранный период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ru-RU" dirty="0"/>
              <a:t>поддержка пользователя в </a:t>
            </a:r>
            <a:r>
              <a:rPr lang="ru-RU" dirty="0" err="1"/>
              <a:t>саморефлексии</a:t>
            </a:r>
            <a:r>
              <a:rPr lang="ru-RU" dirty="0"/>
              <a:t> и улучшении качества жизни</a:t>
            </a:r>
          </a:p>
        </p:txBody>
      </p:sp>
    </p:spTree>
    <p:extLst>
      <p:ext uri="{BB962C8B-B14F-4D97-AF65-F5344CB8AC3E}">
        <p14:creationId xmlns:p14="http://schemas.microsoft.com/office/powerpoint/2010/main" val="269319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518F4-D13C-40F3-9843-13BBC3B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 rtlCol="0"/>
          <a:lstStyle/>
          <a:p>
            <a:pPr rtl="0"/>
            <a:r>
              <a:rPr lang="ru-RU" dirty="0"/>
              <a:t>Существующие аналоги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33E194-371F-4D5A-8C83-2CCE5A3D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127467"/>
            <a:ext cx="10653130" cy="909367"/>
          </a:xfrm>
        </p:spPr>
        <p:txBody>
          <a:bodyPr rtlCol="0" anchor="t" anchorCtr="0">
            <a:normAutofit/>
          </a:bodyPr>
          <a:lstStyle/>
          <a:p>
            <a:pPr rtl="0"/>
            <a:r>
              <a:rPr lang="ru-RU" dirty="0"/>
              <a:t>проблема аналогов: большинство из них англоязычные, перегружены функциями или недоступны бесплатно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BA94CC-2803-437F-B79F-A5067E280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99786"/>
            <a:ext cx="5157787" cy="3127681"/>
          </a:xfrm>
        </p:spPr>
        <p:txBody>
          <a:bodyPr rtlCol="0">
            <a:normAutofit/>
          </a:bodyPr>
          <a:lstStyle/>
          <a:p>
            <a:pPr rtl="0"/>
            <a:r>
              <a:rPr lang="ru-RU" dirty="0" err="1"/>
              <a:t>Moodnotes</a:t>
            </a:r>
            <a:r>
              <a:rPr lang="ru-RU" dirty="0"/>
              <a:t> (</a:t>
            </a:r>
            <a:r>
              <a:rPr lang="ru-RU" dirty="0" err="1"/>
              <a:t>iOS</a:t>
            </a:r>
            <a:r>
              <a:rPr lang="ru-RU" dirty="0"/>
              <a:t>) – отслеживание настроения + CBT (когнитивно-поведенческая терапия)</a:t>
            </a:r>
          </a:p>
          <a:p>
            <a:pPr rtl="0"/>
            <a:r>
              <a:rPr lang="ru-RU" dirty="0" err="1"/>
              <a:t>Daylio</a:t>
            </a:r>
            <a:r>
              <a:rPr lang="ru-RU" dirty="0"/>
              <a:t> (</a:t>
            </a:r>
            <a:r>
              <a:rPr lang="ru-RU" dirty="0" err="1"/>
              <a:t>Android</a:t>
            </a:r>
            <a:r>
              <a:rPr lang="ru-RU" dirty="0"/>
              <a:t>, </a:t>
            </a:r>
            <a:r>
              <a:rPr lang="ru-RU" dirty="0" err="1"/>
              <a:t>iOS</a:t>
            </a:r>
            <a:r>
              <a:rPr lang="ru-RU" dirty="0"/>
              <a:t>) – дневник эмоций с графиками</a:t>
            </a:r>
          </a:p>
          <a:p>
            <a:pPr rtl="0"/>
            <a:r>
              <a:rPr lang="ru-RU" dirty="0" err="1"/>
              <a:t>Moodfit</a:t>
            </a:r>
            <a:r>
              <a:rPr lang="ru-RU" dirty="0"/>
              <a:t> – отслеживание и советы по улучшению</a:t>
            </a:r>
          </a:p>
          <a:p>
            <a:pPr rtl="0"/>
            <a:r>
              <a:rPr lang="ru-RU" dirty="0"/>
              <a:t>нативное приложение "Настроение" в </a:t>
            </a:r>
            <a:r>
              <a:rPr lang="ru-RU" dirty="0" err="1"/>
              <a:t>iOS</a:t>
            </a:r>
            <a:endParaRPr lang="ru-RU" dirty="0"/>
          </a:p>
          <a:p>
            <a:pPr rtl="0"/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FD409D-82CA-4A05-9EF1-71EEFF94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 rtlCol="0"/>
          <a:lstStyle/>
          <a:p>
            <a:pPr rtl="0"/>
            <a:r>
              <a:rPr lang="ru-RU"/>
              <a:t>01.03.20ГГ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D187DA-D1E6-4203-8426-B028CDCA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D57D52-635E-45A8-AB12-6DAF7831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ru-RU" smtClean="0"/>
              <a:pPr rtl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47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60FCC-0BF5-45B2-9CDD-17A4BA18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 rtlCol="0"/>
          <a:lstStyle/>
          <a:p>
            <a:pPr rtl="0"/>
            <a:r>
              <a:rPr lang="ru-RU" dirty="0"/>
              <a:t>Технологический стек разработки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A67A4-895F-49F8-97D0-7158E0597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1089680" cy="530352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язык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0BAF9D-516C-4AC0-B83C-33BFA6E28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036" y="2542032"/>
            <a:ext cx="1467184" cy="669441"/>
          </a:xfrm>
        </p:spPr>
        <p:txBody>
          <a:bodyPr rtlCol="0">
            <a:noAutofit/>
          </a:bodyPr>
          <a:lstStyle/>
          <a:p>
            <a:pPr rtl="0"/>
            <a:r>
              <a:rPr lang="en-US" dirty="0"/>
              <a:t>Kotlin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51D7A3-45F6-43A4-8ADB-05DA212AD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43037" y="2001613"/>
            <a:ext cx="1681993" cy="530352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платформа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022558-08EA-41A8-88BE-1F82971F0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18220" y="2542200"/>
            <a:ext cx="1895772" cy="777240"/>
          </a:xfrm>
        </p:spPr>
        <p:txBody>
          <a:bodyPr rtlCol="0">
            <a:noAutofit/>
          </a:bodyPr>
          <a:lstStyle/>
          <a:p>
            <a:pPr rtl="0"/>
            <a:r>
              <a:rPr lang="en-US" dirty="0"/>
              <a:t>Android</a:t>
            </a:r>
            <a:r>
              <a:rPr lang="ru-RU" dirty="0"/>
              <a:t> (</a:t>
            </a:r>
            <a:r>
              <a:rPr lang="en-US" dirty="0"/>
              <a:t>Android Studio</a:t>
            </a:r>
            <a:r>
              <a:rPr lang="ru-RU" dirty="0"/>
              <a:t>)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EA34E7E-6BB0-4276-9993-7D15DAF83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38600" y="2001613"/>
            <a:ext cx="1895772" cy="530352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база данных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6AEC234-75AE-4C73-8E75-A426AAC544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2542032"/>
            <a:ext cx="1895772" cy="1030168"/>
          </a:xfrm>
        </p:spPr>
        <p:txBody>
          <a:bodyPr rtlCol="0">
            <a:noAutofit/>
          </a:bodyPr>
          <a:lstStyle/>
          <a:p>
            <a:pPr rtl="0"/>
            <a:r>
              <a:rPr lang="ru-RU" dirty="0" err="1"/>
              <a:t>Room</a:t>
            </a:r>
            <a:r>
              <a:rPr lang="ru-RU" dirty="0"/>
              <a:t> (</a:t>
            </a:r>
            <a:r>
              <a:rPr lang="ru-RU" dirty="0" err="1"/>
              <a:t>SQLite</a:t>
            </a:r>
            <a:r>
              <a:rPr lang="ru-RU" dirty="0"/>
              <a:t>) для локального хранения записей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2919092-CCE1-4A58-8E2A-540307E1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 rtlCol="0"/>
          <a:lstStyle/>
          <a:p>
            <a:pPr rtl="0"/>
            <a:r>
              <a:rPr lang="ru-RU"/>
              <a:t>01.03.20ГГ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43032B0D-C227-4CB9-85CC-4B9B8BF1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F67B498-D587-4BC1-B0F3-4316C41A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ru-RU" smtClean="0"/>
              <a:pPr rtl="0"/>
              <a:t>7</a:t>
            </a:fld>
            <a:endParaRPr lang="ru-RU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942C13FF-A69D-44C3-9E68-D51D29AB7F9E}"/>
              </a:ext>
            </a:extLst>
          </p:cNvPr>
          <p:cNvSpPr txBox="1">
            <a:spLocks/>
          </p:cNvSpPr>
          <p:nvPr/>
        </p:nvSpPr>
        <p:spPr>
          <a:xfrm>
            <a:off x="6147940" y="2001613"/>
            <a:ext cx="2005460" cy="5303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2400" b="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20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8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архитектура</a:t>
            </a:r>
          </a:p>
        </p:txBody>
      </p:sp>
      <p:sp>
        <p:nvSpPr>
          <p:cNvPr id="15" name="Объект 7">
            <a:extLst>
              <a:ext uri="{FF2B5EF4-FFF2-40B4-BE49-F238E27FC236}">
                <a16:creationId xmlns:a16="http://schemas.microsoft.com/office/drawing/2014/main" id="{A6ECDF44-5125-4B03-A3D4-0C57F68610D2}"/>
              </a:ext>
            </a:extLst>
          </p:cNvPr>
          <p:cNvSpPr txBox="1">
            <a:spLocks/>
          </p:cNvSpPr>
          <p:nvPr/>
        </p:nvSpPr>
        <p:spPr>
          <a:xfrm>
            <a:off x="6096000" y="2531965"/>
            <a:ext cx="1895772" cy="1030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8001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2573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5735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11455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MVVM (Model–View–</a:t>
            </a:r>
            <a:r>
              <a:rPr lang="en-US" dirty="0" err="1"/>
              <a:t>ViewModel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65326157-4A44-490A-819A-A8AAAD14473A}"/>
              </a:ext>
            </a:extLst>
          </p:cNvPr>
          <p:cNvSpPr txBox="1">
            <a:spLocks/>
          </p:cNvSpPr>
          <p:nvPr/>
        </p:nvSpPr>
        <p:spPr>
          <a:xfrm>
            <a:off x="8153399" y="2001613"/>
            <a:ext cx="3816153" cy="5303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2400" b="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20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8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10000"/>
                  <a:lumOff val="90000"/>
                </a:schemeClr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фреймворки/библиотеки</a:t>
            </a:r>
          </a:p>
        </p:txBody>
      </p:sp>
      <p:sp>
        <p:nvSpPr>
          <p:cNvPr id="17" name="Объект 7">
            <a:extLst>
              <a:ext uri="{FF2B5EF4-FFF2-40B4-BE49-F238E27FC236}">
                <a16:creationId xmlns:a16="http://schemas.microsoft.com/office/drawing/2014/main" id="{7CF1DE87-9A5B-4F55-8C5F-854FC2482D37}"/>
              </a:ext>
            </a:extLst>
          </p:cNvPr>
          <p:cNvSpPr txBox="1">
            <a:spLocks/>
          </p:cNvSpPr>
          <p:nvPr/>
        </p:nvSpPr>
        <p:spPr>
          <a:xfrm>
            <a:off x="8153191" y="2531965"/>
            <a:ext cx="3541062" cy="1030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8001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2573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5735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11455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2">
                    <a:alpha val="70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Coroutines/Flow (</a:t>
            </a:r>
            <a:r>
              <a:rPr lang="ru-RU" dirty="0"/>
              <a:t>для асинхронности)</a:t>
            </a:r>
          </a:p>
          <a:p>
            <a:r>
              <a:rPr lang="en-US" dirty="0"/>
              <a:t>Hilt/Dagger (</a:t>
            </a:r>
            <a:r>
              <a:rPr lang="ru-RU" dirty="0"/>
              <a:t>для внедрения зависимостей)</a:t>
            </a:r>
          </a:p>
          <a:p>
            <a:r>
              <a:rPr lang="en-US" dirty="0"/>
              <a:t>Material Design Components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126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58CC6-FF60-4FC8-BA35-52A8BDDC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rtlCol="0"/>
          <a:lstStyle/>
          <a:p>
            <a:pPr rtl="0"/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E0066-50A4-4BA2-9D04-DA968D2AB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11020786" cy="2986087"/>
          </a:xfrm>
        </p:spPr>
        <p:txBody>
          <a:bodyPr rtlCol="0">
            <a:no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приложение помогает пользователю лучше понимать себя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решает проблему отсутствия инструментов для самонаблюдения и эмоциональной аналитики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является удобным, современным и персонализированным аналогом существующих решений</a:t>
            </a:r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id="{FB067F41-22A4-40B6-A3DA-26D8E0FC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 rtlCol="0"/>
          <a:lstStyle/>
          <a:p>
            <a:pPr rtl="0"/>
            <a:r>
              <a:rPr lang="ru-RU"/>
              <a:t>01.03.20ГГ</a:t>
            </a: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ECB2F7A7-6A7C-429F-A261-494305D5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F068389-EB02-493E-9416-4F35FEE4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 rtlCol="0"/>
          <a:lstStyle/>
          <a:p>
            <a:pPr rtl="0"/>
            <a:fld id="{28844951-7827-47D4-8276-7DDE1FA7D85A}" type="slidenum">
              <a:rPr lang="ru-RU" smtClean="0"/>
              <a:pPr rtl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091750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1757075_TF00537603_Win32.potx" id="{FA760C41-A864-41E6-932D-5EA51B7829CA}" vid="{0D0BA4B2-E6DF-459E-A2A3-0B753D8820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Светящееся оформление</Template>
  <TotalTime>20</TotalTime>
  <Words>301</Words>
  <Application>Microsoft Office PowerPoint</Application>
  <PresentationFormat>Широкоэкранный</PresentationFormat>
  <Paragraphs>62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LuminousVTI</vt:lpstr>
      <vt:lpstr>MoodTrack</vt:lpstr>
      <vt:lpstr>Проблема</vt:lpstr>
      <vt:lpstr>Цель проекта</vt:lpstr>
      <vt:lpstr>Задачи проекта</vt:lpstr>
      <vt:lpstr>Назначение приложения</vt:lpstr>
      <vt:lpstr>Существующие аналоги</vt:lpstr>
      <vt:lpstr>Технологический стек разработки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MoodTrack</dc:title>
  <dc:creator>andrey</dc:creator>
  <cp:lastModifiedBy>andrey</cp:lastModifiedBy>
  <cp:revision>4</cp:revision>
  <dcterms:created xsi:type="dcterms:W3CDTF">2025-09-23T22:06:13Z</dcterms:created>
  <dcterms:modified xsi:type="dcterms:W3CDTF">2025-09-23T22:26:59Z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